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06" r:id="rId2"/>
    <p:sldId id="2147470507" r:id="rId3"/>
    <p:sldId id="2147470494" r:id="rId4"/>
    <p:sldId id="2147470493" r:id="rId5"/>
    <p:sldId id="2147470487" r:id="rId6"/>
    <p:sldId id="2147470504" r:id="rId7"/>
    <p:sldId id="2147470505" r:id="rId8"/>
    <p:sldId id="2147470501" r:id="rId9"/>
    <p:sldId id="2147470498" r:id="rId10"/>
    <p:sldId id="21474704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/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236" y="1659822"/>
            <a:ext cx="114281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AI Career &amp; Research Copilot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IN" alt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SURAJ KUMAR</a:t>
            </a:r>
          </a:p>
          <a:p>
            <a:pPr lvl="0" algn="ctr">
              <a:defRPr/>
            </a:pPr>
            <a:r>
              <a:rPr lang="en-US" alt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 Series ID: T9986</a:t>
            </a:r>
          </a:p>
          <a:p>
            <a:pPr lvl="0" algn="ctr">
              <a:defRPr/>
            </a:pPr>
            <a:r>
              <a:rPr lang="en-US" alt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 descr="LTIMindtree Introduces New Brand Identity and Positioning: LTM — The ...">
            <a:extLst>
              <a:ext uri="{FF2B5EF4-FFF2-40B4-BE49-F238E27FC236}">
                <a16:creationId xmlns:a16="http://schemas.microsoft.com/office/drawing/2014/main" id="{9BA31822-2B17-8E87-8439-3B455771D0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856" y="5852668"/>
            <a:ext cx="1987468" cy="8474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9AE70-BC5D-B280-9EDC-CEA5D37D7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3C457F-44C7-5132-DF7A-D8E4C4680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936095" cy="5285105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An AI-powered platform designed to support career development and academic research.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Uses LLM, RAG, document processing and recommendation techniques. </a:t>
            </a:r>
          </a:p>
          <a:p>
            <a:pPr lvl="0">
              <a:lnSpc>
                <a:spcPct val="100000"/>
              </a:lnSpc>
            </a:pPr>
            <a:r>
              <a:rPr lang="en-IN" dirty="0" err="1">
                <a:latin typeface="+mn-lt"/>
              </a:rPr>
              <a:t>Analyzes</a:t>
            </a:r>
            <a:r>
              <a:rPr lang="en-IN" dirty="0">
                <a:latin typeface="+mn-lt"/>
              </a:rPr>
              <a:t> resumes, job descriptions, professional profiles and research papers.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Provides skill-gap analysis, learning recommendations and research guidance.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Supports three user personas: 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Fresher / Student</a:t>
            </a:r>
            <a:r>
              <a:rPr lang="en-IN" dirty="0"/>
              <a:t> 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Experienced Professional</a:t>
            </a:r>
            <a:r>
              <a:rPr lang="en-IN" dirty="0"/>
              <a:t> 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Academic Researcher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0B50FC-328A-F8E5-EA51-EE295C76AC86}"/>
              </a:ext>
            </a:extLst>
          </p:cNvPr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Introduction</a:t>
            </a: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04126B-6430-87BA-C10A-B5AB9B4E7225}"/>
              </a:ext>
            </a:extLst>
          </p:cNvPr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82240C4-1AFE-48D4-CD66-5741026CFD06}"/>
              </a:ext>
            </a:extLst>
          </p:cNvPr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99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8"/>
            <a:ext cx="11936004" cy="5294469"/>
          </a:xfrm>
        </p:spPr>
        <p:txBody>
          <a:bodyPr/>
          <a:lstStyle/>
          <a:p>
            <a:pPr lvl="0"/>
            <a:r>
              <a:rPr lang="en-IN" dirty="0">
                <a:latin typeface="+mn-lt"/>
              </a:rPr>
              <a:t>Scattered Resources: </a:t>
            </a:r>
            <a:r>
              <a:rPr lang="en-IN" b="0" dirty="0">
                <a:latin typeface="+mn-lt"/>
              </a:rPr>
              <a:t>Career, learning, and research information is distributed across multiple platforms.</a:t>
            </a:r>
          </a:p>
          <a:p>
            <a:pPr lvl="0"/>
            <a:r>
              <a:rPr lang="en-IN" dirty="0">
                <a:latin typeface="+mn-lt"/>
              </a:rPr>
              <a:t>Lack of Personalization: </a:t>
            </a:r>
            <a:r>
              <a:rPr lang="en-IN" b="0" dirty="0">
                <a:latin typeface="+mn-lt"/>
              </a:rPr>
              <a:t>Existing platforms often provide generic recommendations without considering individual profiles.</a:t>
            </a:r>
          </a:p>
          <a:p>
            <a:pPr lvl="0"/>
            <a:r>
              <a:rPr lang="en-IN" dirty="0">
                <a:latin typeface="+mn-lt"/>
              </a:rPr>
              <a:t>Skill Gap Identification: </a:t>
            </a:r>
            <a:r>
              <a:rPr lang="en-IN" b="0" dirty="0">
                <a:latin typeface="+mn-lt"/>
              </a:rPr>
              <a:t>Students struggle to identify missing skills required for their target job roles.</a:t>
            </a:r>
          </a:p>
          <a:p>
            <a:pPr lvl="0"/>
            <a:r>
              <a:rPr lang="en-IN" dirty="0">
                <a:latin typeface="+mn-lt"/>
              </a:rPr>
              <a:t>Research Challenges: </a:t>
            </a:r>
            <a:r>
              <a:rPr lang="en-IN" b="0" dirty="0">
                <a:latin typeface="+mn-lt"/>
              </a:rPr>
              <a:t>Finding, understanding, and summarizing relevant research papers is time-consuming.</a:t>
            </a:r>
          </a:p>
          <a:p>
            <a:pPr lvl="0"/>
            <a:r>
              <a:rPr lang="en-IN" dirty="0">
                <a:latin typeface="+mn-lt"/>
              </a:rPr>
              <a:t>No Unified Platform: </a:t>
            </a:r>
            <a:r>
              <a:rPr lang="en-IN" b="0" dirty="0">
                <a:latin typeface="+mn-lt"/>
              </a:rPr>
              <a:t>There is a need for an AI-powered system combining resume analysis, career guidance, skill development, and research assistance.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5204529"/>
          </a:xfrm>
        </p:spPr>
        <p:txBody>
          <a:bodyPr/>
          <a:lstStyle/>
          <a:p>
            <a:r>
              <a:rPr lang="en-IN" dirty="0" err="1">
                <a:latin typeface="+mn-lt"/>
              </a:rPr>
              <a:t>Analyze</a:t>
            </a:r>
            <a:r>
              <a:rPr lang="en-IN" dirty="0">
                <a:latin typeface="+mn-lt"/>
              </a:rPr>
              <a:t> resumes and profiles </a:t>
            </a:r>
            <a:r>
              <a:rPr lang="en-IN" b="0" dirty="0">
                <a:latin typeface="+mn-lt"/>
              </a:rPr>
              <a:t>to identify the user’s skills, experience, projects, and strengths.</a:t>
            </a:r>
          </a:p>
          <a:p>
            <a:pPr lvl="0"/>
            <a:r>
              <a:rPr lang="en-IN" dirty="0">
                <a:latin typeface="+mn-lt"/>
              </a:rPr>
              <a:t>Identify skill gaps </a:t>
            </a:r>
            <a:r>
              <a:rPr lang="en-IN" b="0" dirty="0">
                <a:latin typeface="+mn-lt"/>
              </a:rPr>
              <a:t>by comparing the user’s profile with target job descriptions and career roles.</a:t>
            </a:r>
          </a:p>
          <a:p>
            <a:pPr lvl="0"/>
            <a:r>
              <a:rPr lang="en-IN" dirty="0">
                <a:latin typeface="+mn-lt"/>
              </a:rPr>
              <a:t>Provide personalized recommendations</a:t>
            </a:r>
            <a:r>
              <a:rPr lang="en-IN" b="0" dirty="0">
                <a:latin typeface="+mn-lt"/>
              </a:rPr>
              <a:t> for learning resources, career roadmaps, and interview preparation.</a:t>
            </a:r>
          </a:p>
          <a:p>
            <a:pPr lvl="0"/>
            <a:r>
              <a:rPr lang="en-IN" dirty="0">
                <a:latin typeface="+mn-lt"/>
              </a:rPr>
              <a:t>Support research activities </a:t>
            </a:r>
            <a:r>
              <a:rPr lang="en-IN" b="0" dirty="0">
                <a:latin typeface="+mn-lt"/>
              </a:rPr>
              <a:t>by finding, summarizing, and retrieving relevant research papers using RAG.</a:t>
            </a:r>
          </a:p>
          <a:p>
            <a:pPr lvl="0"/>
            <a:r>
              <a:rPr lang="en-IN" dirty="0">
                <a:latin typeface="+mn-lt"/>
              </a:rPr>
              <a:t>Develop a unified AI-powered platform </a:t>
            </a:r>
            <a:r>
              <a:rPr lang="en-IN" b="0" dirty="0">
                <a:latin typeface="+mn-lt"/>
              </a:rPr>
              <a:t>using Gemini, </a:t>
            </a:r>
            <a:r>
              <a:rPr lang="en-IN" b="0" dirty="0" err="1">
                <a:latin typeface="+mn-lt"/>
              </a:rPr>
              <a:t>LangChain</a:t>
            </a:r>
            <a:r>
              <a:rPr lang="en-IN" b="0" dirty="0">
                <a:latin typeface="+mn-lt"/>
              </a:rPr>
              <a:t>, MongoDB, and vector search for personalized career and research guidance.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Analyze</a:t>
            </a:r>
            <a:r>
              <a:rPr lang="en-IN" dirty="0"/>
              <a:t> the user's profile and identify career-related skill gaps</a:t>
            </a:r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Module1(</a:t>
            </a:r>
            <a:r>
              <a:rPr lang="en-IN" sz="3600" b="1" dirty="0"/>
              <a:t>Resume &amp; Career Analysis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1A827-18CA-833C-FB9A-C129FECE398C}"/>
              </a:ext>
            </a:extLst>
          </p:cNvPr>
          <p:cNvSpPr txBox="1"/>
          <p:nvPr/>
        </p:nvSpPr>
        <p:spPr>
          <a:xfrm>
            <a:off x="255995" y="1838127"/>
            <a:ext cx="1148130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Upload and parse </a:t>
            </a:r>
            <a:r>
              <a:rPr lang="en-IN" sz="2800" b="1" dirty="0"/>
              <a:t>PDF/DOCX resumes</a:t>
            </a:r>
            <a:r>
              <a:rPr lang="en-IN" sz="28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Extract </a:t>
            </a:r>
            <a:r>
              <a:rPr lang="en-IN" sz="2800" b="1" dirty="0"/>
              <a:t>skills, education, projects, experience, and certifications</a:t>
            </a:r>
            <a:r>
              <a:rPr lang="en-IN" sz="2800" dirty="0"/>
              <a:t> using AI.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Compare resume skills with the </a:t>
            </a:r>
            <a:r>
              <a:rPr lang="en-IN" sz="2800" b="1" dirty="0"/>
              <a:t>target job description</a:t>
            </a:r>
            <a:r>
              <a:rPr lang="en-IN" sz="28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Calculate a </a:t>
            </a:r>
            <a:r>
              <a:rPr lang="en-IN" sz="2800" b="1" dirty="0"/>
              <a:t>job-match score</a:t>
            </a:r>
            <a:r>
              <a:rPr lang="en-IN" sz="2800" dirty="0"/>
              <a:t> and identify missing skills.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Recommend improvements for the </a:t>
            </a:r>
            <a:r>
              <a:rPr lang="en-IN" sz="2800" b="1" dirty="0"/>
              <a:t>resume and technical skills</a:t>
            </a:r>
            <a:r>
              <a:rPr lang="en-IN" sz="28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F62E4B-0CCF-60D5-E4C5-CA16CD653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74" y="4084897"/>
            <a:ext cx="10782925" cy="239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FAD62-EA90-A8B8-4A86-A9C05FA0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4D4A95-84DA-B874-7E5E-F8AB84994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Career Upskilling &amp; Market Trend Analysis</a:t>
            </a:r>
            <a:endParaRPr lang="en-US" dirty="0">
              <a:solidFill>
                <a:srgbClr val="1C3898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22629-C615-31E8-8C3A-68216D4EED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Module2(</a:t>
            </a:r>
            <a:r>
              <a:rPr lang="en-IN" sz="3600" b="1" dirty="0"/>
              <a:t>career growth/upskilling)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665716-F509-A14C-2AEE-33215908C85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F91210D-598B-693D-23B2-59937220036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3B5FA5-1598-65D3-1598-2FA267FD2609}"/>
              </a:ext>
            </a:extLst>
          </p:cNvPr>
          <p:cNvSpPr txBox="1"/>
          <p:nvPr/>
        </p:nvSpPr>
        <p:spPr>
          <a:xfrm>
            <a:off x="255995" y="1838128"/>
            <a:ext cx="1115151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 err="1"/>
              <a:t>Analyze</a:t>
            </a:r>
            <a:r>
              <a:rPr lang="en-IN" sz="2800" dirty="0"/>
              <a:t> the professional’s </a:t>
            </a:r>
            <a:r>
              <a:rPr lang="en-IN" sz="2800" b="1" dirty="0"/>
              <a:t>resume, experience, and existing skills</a:t>
            </a:r>
            <a:r>
              <a:rPr lang="en-IN" sz="2800" dirty="0"/>
              <a:t>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Collect and </a:t>
            </a:r>
            <a:r>
              <a:rPr lang="en-IN" sz="2800" dirty="0" err="1"/>
              <a:t>analyze</a:t>
            </a:r>
            <a:r>
              <a:rPr lang="en-IN" sz="2800" dirty="0"/>
              <a:t> </a:t>
            </a:r>
            <a:r>
              <a:rPr lang="en-IN" sz="2800" b="1" dirty="0"/>
              <a:t>current job-market trends and in-demand technologies</a:t>
            </a:r>
            <a:r>
              <a:rPr lang="en-IN" sz="2800" dirty="0"/>
              <a:t>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Compare the user’s skills with </a:t>
            </a:r>
            <a:r>
              <a:rPr lang="en-IN" sz="2800" b="1" dirty="0"/>
              <a:t>current industry requirements</a:t>
            </a:r>
            <a:r>
              <a:rPr lang="en-IN" sz="2800" dirty="0"/>
              <a:t>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Identify </a:t>
            </a:r>
            <a:r>
              <a:rPr lang="en-IN" sz="2800" b="1" dirty="0"/>
              <a:t>skill gaps and emerging skills</a:t>
            </a:r>
            <a:r>
              <a:rPr lang="en-IN" sz="2800" dirty="0"/>
              <a:t> relevant to their career.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Recommend a </a:t>
            </a:r>
            <a:r>
              <a:rPr lang="en-IN" sz="2800" b="1" dirty="0"/>
              <a:t>personalized learning and career progression path</a:t>
            </a:r>
            <a:r>
              <a:rPr lang="en-I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0603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8A462-1126-A6C6-AF02-13C28303E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E491AE-47A1-83E4-E5A7-539BA4676B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316411" cy="444565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latin typeface="+mn-lt"/>
              </a:rPr>
              <a:t>Help students efficiently explore and understand research information</a:t>
            </a:r>
            <a:endParaRPr lang="en-US" b="0" dirty="0">
              <a:solidFill>
                <a:srgbClr val="1C3898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22AD6-9145-EF70-660C-F580449D23F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Module3(</a:t>
            </a:r>
            <a:r>
              <a:rPr lang="en-IN" sz="3600" b="1" dirty="0"/>
              <a:t>AI Research Assistant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9CEA6A-9C01-C2CF-3048-3197956AB0A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7A99EB3-C868-FE41-A9C7-79D76F60D342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084B3-858A-A4FF-63F2-73DF4CC925C4}"/>
              </a:ext>
            </a:extLst>
          </p:cNvPr>
          <p:cNvSpPr txBox="1"/>
          <p:nvPr/>
        </p:nvSpPr>
        <p:spPr>
          <a:xfrm>
            <a:off x="255995" y="1838128"/>
            <a:ext cx="114213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Search for </a:t>
            </a:r>
            <a:r>
              <a:rPr lang="en-IN" sz="2800" b="1" dirty="0"/>
              <a:t>relevant research papers</a:t>
            </a:r>
            <a:r>
              <a:rPr lang="en-IN" sz="2800" dirty="0"/>
              <a:t> based on the user's topic.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Extract important information from research documents.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Generate </a:t>
            </a:r>
            <a:r>
              <a:rPr lang="en-IN" sz="2800" b="1" dirty="0"/>
              <a:t>AI-based paper summaries</a:t>
            </a:r>
            <a:r>
              <a:rPr lang="en-IN" sz="28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Use </a:t>
            </a:r>
            <a:r>
              <a:rPr lang="en-IN" sz="2800" b="1" dirty="0"/>
              <a:t>RAG and vector search</a:t>
            </a:r>
            <a:r>
              <a:rPr lang="en-IN" sz="2800" dirty="0"/>
              <a:t> for contextual research Q&amp;A.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Help identify </a:t>
            </a:r>
            <a:r>
              <a:rPr lang="en-IN" sz="2800" b="1" dirty="0"/>
              <a:t>research topics, trends, and potential research gaps</a:t>
            </a:r>
            <a:r>
              <a:rPr lang="en-IN" sz="28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D69710-7397-E21A-97EC-DF5FF08F3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045" y="4108686"/>
            <a:ext cx="9788578" cy="224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78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4DB281-0661-3D67-6AAC-553B6C9B3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36" y="1234637"/>
            <a:ext cx="10624338" cy="486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0DE8ED-A781-8E1E-0DFB-C1E1A7941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26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31204" cy="5084228"/>
          </a:xfrm>
        </p:spPr>
        <p:txBody>
          <a:bodyPr/>
          <a:lstStyle/>
          <a:p>
            <a:r>
              <a:rPr lang="en-IN" b="0" dirty="0">
                <a:latin typeface="+mn-lt"/>
              </a:rPr>
              <a:t>Developed a unified AI-powered platform for career development and research assistance.</a:t>
            </a:r>
          </a:p>
          <a:p>
            <a:pPr lvl="0"/>
            <a:r>
              <a:rPr lang="en-IN" b="0" dirty="0">
                <a:latin typeface="+mn-lt"/>
              </a:rPr>
              <a:t>Provides resume analysis, job matching, and skill-gap identification for students and job seekers.</a:t>
            </a:r>
          </a:p>
          <a:p>
            <a:pPr lvl="0"/>
            <a:r>
              <a:rPr lang="en-IN" b="0" dirty="0">
                <a:latin typeface="+mn-lt"/>
              </a:rPr>
              <a:t>Helps experienced professionals identify market trends and in-demand skills for career upskilling.</a:t>
            </a:r>
          </a:p>
          <a:p>
            <a:pPr lvl="0"/>
            <a:r>
              <a:rPr lang="en-IN" b="0" dirty="0">
                <a:latin typeface="+mn-lt"/>
              </a:rPr>
              <a:t>Uses RAG, LLMs, and vector search to provide research paper summaries, contextual Q&amp;A, and research insights.</a:t>
            </a:r>
          </a:p>
          <a:p>
            <a:pPr lvl="0"/>
            <a:r>
              <a:rPr lang="en-IN" b="0" dirty="0">
                <a:latin typeface="+mn-lt"/>
              </a:rPr>
              <a:t>Delivers personalized learning paths and recommendations, supporting continuous career growth and research development.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578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Suraj Kumar</cp:lastModifiedBy>
  <cp:revision>26</cp:revision>
  <dcterms:created xsi:type="dcterms:W3CDTF">2024-05-13T10:33:11Z</dcterms:created>
  <dcterms:modified xsi:type="dcterms:W3CDTF">2026-10-09T08:27:44Z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